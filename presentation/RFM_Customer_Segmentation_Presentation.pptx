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Customer Segmentation Using RFM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RFM scoring + K-Means clustering | VEDA Technology Project</a:t>
            </a:r>
          </a:p>
          <a:p>
            <a:r>
              <a:t>Prepared by Naveen Kumar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Identify customers with different purchasing behaviors from transactional e-commerce data.</a:t>
            </a:r>
          </a:p>
          <a:p>
            <a:pPr>
              <a:spcAft>
                <a:spcPts val="1200"/>
              </a:spcAft>
              <a:defRPr sz="2100"/>
            </a:pPr>
            <a:r>
              <a:t>Move beyond total sales and create actionable customer segments.</a:t>
            </a:r>
          </a:p>
          <a:p>
            <a:pPr>
              <a:spcAft>
                <a:spcPts val="1200"/>
              </a:spcAft>
              <a:defRPr sz="2100"/>
            </a:pPr>
            <a:r>
              <a:t>Translate segmentation into loyalty, win-back and reactivation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Validate transactions and calculate TotalSales = Quantity × UnitPrice.</a:t>
            </a:r>
          </a:p>
          <a:p>
            <a:pPr>
              <a:spcAft>
                <a:spcPts val="1200"/>
              </a:spcAft>
              <a:defRPr sz="2100"/>
            </a:pPr>
            <a:r>
              <a:t>Calculate Recency, Frequency and Monetary for every customer.</a:t>
            </a:r>
          </a:p>
          <a:p>
            <a:pPr>
              <a:spcAft>
                <a:spcPts val="1200"/>
              </a:spcAft>
              <a:defRPr sz="2100"/>
            </a:pPr>
            <a:r>
              <a:t>Assign quintile RFM scores from 1 to 5.</a:t>
            </a:r>
          </a:p>
          <a:p>
            <a:pPr>
              <a:spcAft>
                <a:spcPts val="1200"/>
              </a:spcAft>
              <a:defRPr sz="2100"/>
            </a:pPr>
            <a:r>
              <a:t>Apply K-Means to log-transformed and standardized RFM features.</a:t>
            </a:r>
          </a:p>
          <a:p>
            <a:pPr>
              <a:spcAft>
                <a:spcPts val="1200"/>
              </a:spcAft>
              <a:defRPr sz="2100"/>
            </a:pPr>
            <a:r>
              <a:t>Map clusters to business-friendly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391,150 validated transaction rows.</a:t>
            </a:r>
          </a:p>
          <a:p>
            <a:pPr>
              <a:spcAft>
                <a:spcPts val="1200"/>
              </a:spcAft>
              <a:defRPr sz="2100"/>
            </a:pPr>
            <a:r>
              <a:t>4,334 customers and 18,402 invoices.</a:t>
            </a:r>
          </a:p>
          <a:p>
            <a:pPr>
              <a:spcAft>
                <a:spcPts val="1200"/>
              </a:spcAft>
              <a:defRPr sz="2100"/>
            </a:pPr>
            <a:r>
              <a:t>3,659 products across 37 countries.</a:t>
            </a:r>
          </a:p>
          <a:p>
            <a:pPr>
              <a:spcAft>
                <a:spcPts val="1200"/>
              </a:spcAft>
              <a:defRPr sz="2100"/>
            </a:pPr>
            <a:r>
              <a:t>Revenue analyzed: £8,737,227.64.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Champions — protect and reward high-value customers.</a:t>
            </a:r>
          </a:p>
          <a:p>
            <a:pPr>
              <a:spcAft>
                <a:spcPts val="1200"/>
              </a:spcAft>
              <a:defRPr sz="2100"/>
            </a:pPr>
            <a:r>
              <a:t>Loyal Customers — grow customer lifetime value.</a:t>
            </a:r>
          </a:p>
          <a:p>
            <a:pPr>
              <a:spcAft>
                <a:spcPts val="1200"/>
              </a:spcAft>
              <a:defRPr sz="2100"/>
            </a:pPr>
            <a:r>
              <a:t>At-Risk Customers — win back previously valuable customers.</a:t>
            </a:r>
          </a:p>
          <a:p>
            <a:pPr>
              <a:spcAft>
                <a:spcPts val="1200"/>
              </a:spcAft>
              <a:defRPr sz="2100"/>
            </a:pPr>
            <a:r>
              <a:t>Potential Loyalists — convert recent/early-stage buyers.</a:t>
            </a:r>
          </a:p>
          <a:p>
            <a:pPr>
              <a:spcAft>
                <a:spcPts val="1200"/>
              </a:spcAft>
              <a:defRPr sz="2100"/>
            </a:pPr>
            <a:r>
              <a:t>Lost Customers — reactivate selectively.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Champions are 7.2% of customers and generate 51.5% of revenue.</a:t>
            </a:r>
          </a:p>
          <a:p>
            <a:pPr>
              <a:spcAft>
                <a:spcPts val="1200"/>
              </a:spcAft>
              <a:defRPr sz="2100"/>
            </a:pPr>
            <a:r>
              <a:t>At-Risk Customers are 23.7% of customers and generate 16.6% of revenue.</a:t>
            </a:r>
          </a:p>
          <a:p>
            <a:pPr>
              <a:spcAft>
                <a:spcPts val="1200"/>
              </a:spcAft>
              <a:defRPr sz="2100"/>
            </a:pPr>
            <a:r>
              <a:t>About 26.1% of customers account for 80% of customer revenue.</a:t>
            </a:r>
          </a:p>
          <a:p>
            <a:pPr>
              <a:spcAft>
                <a:spcPts val="1200"/>
              </a:spcAft>
              <a:defRPr sz="2100"/>
            </a:pPr>
            <a:r>
              <a:t>K-Means silhouette score: 0.3172.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Protect Champions with VIP benefits, early access and referral rewards.</a:t>
            </a:r>
          </a:p>
          <a:p>
            <a:pPr>
              <a:spcAft>
                <a:spcPts val="1200"/>
              </a:spcAft>
              <a:defRPr sz="2100"/>
            </a:pPr>
            <a:r>
              <a:t>Grow Loyal Customers with cross-sell, upsell and loyalty points.</a:t>
            </a:r>
          </a:p>
          <a:p>
            <a:pPr>
              <a:spcAft>
                <a:spcPts val="1200"/>
              </a:spcAft>
              <a:defRPr sz="2100"/>
            </a:pPr>
            <a:r>
              <a:t>Prioritize At-Risk Customers for personalized win-back journeys.</a:t>
            </a:r>
          </a:p>
          <a:p>
            <a:pPr>
              <a:spcAft>
                <a:spcPts val="1200"/>
              </a:spcAft>
              <a:defRPr sz="2100"/>
            </a:pPr>
            <a:r>
              <a:t>Convert Potential Loyalists using second-purchase incentives.</a:t>
            </a:r>
          </a:p>
          <a:p>
            <a:pPr>
              <a:spcAft>
                <a:spcPts val="1200"/>
              </a:spcAft>
              <a:defRPr sz="2100"/>
            </a:pPr>
            <a:r>
              <a:t>Use low-cost reactivation tests for Lost Customers and measure ROI.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VEDA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RFM score table for all customers.</a:t>
            </a:r>
          </a:p>
          <a:p>
            <a:pPr>
              <a:spcAft>
                <a:spcPts val="1200"/>
              </a:spcAft>
              <a:defRPr sz="2100"/>
            </a:pPr>
            <a:r>
              <a:t>K-Means cluster analysis and visualizations.</a:t>
            </a:r>
          </a:p>
          <a:p>
            <a:pPr>
              <a:spcAft>
                <a:spcPts val="1200"/>
              </a:spcAft>
              <a:defRPr sz="2100"/>
            </a:pPr>
            <a:r>
              <a:t>Excel analytical workbook.</a:t>
            </a:r>
          </a:p>
          <a:p>
            <a:pPr>
              <a:spcAft>
                <a:spcPts val="1200"/>
              </a:spcAft>
              <a:defRPr sz="2100"/>
            </a:pPr>
            <a:r>
              <a:t>Power BI-ready datasets and DAX/build guide.</a:t>
            </a:r>
          </a:p>
          <a:p>
            <a:pPr>
              <a:spcAft>
                <a:spcPts val="1200"/>
              </a:spcAft>
              <a:defRPr sz="2100"/>
            </a:pPr>
            <a:r>
              <a:t>One-page-style business recommendation.</a:t>
            </a:r>
          </a:p>
          <a:p>
            <a:pPr>
              <a:spcAft>
                <a:spcPts val="1200"/>
              </a:spcAft>
              <a:defRPr sz="2100"/>
            </a:pPr>
            <a:r>
              <a:t>Optional Streamlit dashboard.</a:t>
            </a:r>
          </a:p>
          <a:p>
            <a:pPr>
              <a:spcAft>
                <a:spcPts val="1200"/>
              </a:spcAft>
              <a:defRPr sz="2100"/>
            </a:pPr>
            <a:r>
              <a:t>Reproducible Python pipeline and validation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